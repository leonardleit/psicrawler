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内容依据本地仓库 README_zh.md、document/dft/overview.md、document/dft/materialscloud.md、normalizers/dft/standard.yaml 及当前模块整理。统计日期：2026-09-18。Materials Cloud 约 10.5 万条为文档中四个数据集记录数之和的近似值。代码目录 core、crawler、sources、normalizers、tests 已通过本地 compileall 语法检查。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B1AECBFF-EB5E-4024-AFF7-937B335E5618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514350" cy="47625"/>
          </a:xfrm>
          <a:prstGeom prst="rect">
            <a:avLst/>
          </a:prstGeom>
          <a:solidFill>
            <a:srgbClr val="159E91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1CC788-B582-4A36-9EC1-2750A8BF2059}"/>
              </a:ext>
            </a:extLst>
          </p:cNvPr>
          <p:cNvSpPr>
            <a:spLocks noGrp="1"/>
          </p:cNvSpPr>
          <p:nvPr/>
        </p:nvSpPr>
        <p:spPr>
          <a:xfrm>
            <a:off x="628650" y="523875"/>
            <a:ext cx="6667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PsiCrawler 项目周报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D3362A-B314-4FB2-B932-30166D9D4797}"/>
              </a:ext>
            </a:extLst>
          </p:cNvPr>
          <p:cNvSpPr>
            <a:spLocks noGrp="1"/>
          </p:cNvSpPr>
          <p:nvPr/>
        </p:nvSpPr>
        <p:spPr>
          <a:xfrm>
            <a:off x="8001000" y="638175"/>
            <a:ext cx="3524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125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rPr>
              <a:t>本周进展与后续计划   2026.09.09 至 09.18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352814-9666-49C5-A05E-BA0CAB539DD8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10896600" cy="9525"/>
          </a:xfrm>
          <a:prstGeom prst="rect">
            <a:avLst/>
          </a:prstGeom>
          <a:solidFill>
            <a:srgbClr val="D9E3E2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9CD1C5-9AFB-4DF7-A1A9-A80C02477A0E}"/>
              </a:ext>
            </a:extLst>
          </p:cNvPr>
          <p:cNvSpPr>
            <a:spLocks noGrp="1"/>
          </p:cNvSpPr>
          <p:nvPr/>
        </p:nvSpPr>
        <p:spPr>
          <a:xfrm>
            <a:off x="628650" y="13620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26B18D-6183-4D5C-9232-2672D4436DBF}"/>
              </a:ext>
            </a:extLst>
          </p:cNvPr>
          <p:cNvSpPr>
            <a:spLocks noGrp="1"/>
          </p:cNvSpPr>
          <p:nvPr/>
        </p:nvSpPr>
        <p:spPr>
          <a:xfrm>
            <a:off x="1428750" y="138112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PsiCrawler 是什么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365EBF-0A73-42CC-8F58-665F0CDC836B}"/>
              </a:ext>
            </a:extLst>
          </p:cNvPr>
          <p:cNvSpPr>
            <a:spLocks noGrp="1"/>
          </p:cNvSpPr>
          <p:nvPr/>
        </p:nvSpPr>
        <p:spPr>
          <a:xfrm>
            <a:off x="3905250" y="1323975"/>
            <a:ext cx="7524750" cy="828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PsiCrawler 面向公开科研数据，负责批量采集、标准化、存储与检索。当前聚焦 DFT 数据库：保留各数据源的接口与文件差异，同时用统一 schema 描述材料结构、计算性质、数据文件和溯源信息。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0A469C-8E84-4A15-9438-B04CD6DD1A2B}"/>
              </a:ext>
            </a:extLst>
          </p:cNvPr>
          <p:cNvSpPr>
            <a:spLocks noGrp="1"/>
          </p:cNvSpPr>
          <p:nvPr/>
        </p:nvSpPr>
        <p:spPr>
          <a:xfrm>
            <a:off x="1428750" y="2295525"/>
            <a:ext cx="10096500" cy="9525"/>
          </a:xfrm>
          <a:prstGeom prst="rect">
            <a:avLst/>
          </a:prstGeom>
          <a:solidFill>
            <a:srgbClr val="D9E3E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D73FAD-C363-467E-96F9-F32972199EBD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B66396-31ED-4349-B64F-EF4309961965}"/>
              </a:ext>
            </a:extLst>
          </p:cNvPr>
          <p:cNvSpPr>
            <a:spLocks noGrp="1"/>
          </p:cNvSpPr>
          <p:nvPr/>
        </p:nvSpPr>
        <p:spPr>
          <a:xfrm>
            <a:off x="1428750" y="26098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当下的进度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E51D5C-4958-4666-9729-4C0440D0AF8E}"/>
              </a:ext>
            </a:extLst>
          </p:cNvPr>
          <p:cNvSpPr>
            <a:spLocks noGrp="1"/>
          </p:cNvSpPr>
          <p:nvPr/>
        </p:nvSpPr>
        <p:spPr>
          <a:xfrm>
            <a:off x="3905250" y="2543175"/>
            <a:ext cx="7524750" cy="733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r>
              <a:rPr sz="1350" b="0" dirty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 Materials </a:t>
            </a:r>
            <a:r>
              <a:rPr sz="1350" b="0" dirty="0" err="1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Project、AFLOW、Alexandria</a:t>
            </a:r>
            <a:r>
              <a:rPr sz="1350" b="0" dirty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 和 Materials Cloud </a:t>
            </a:r>
            <a:r>
              <a:rPr sz="1350" b="0" dirty="0" err="1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四个数据源适配。现有流程覆盖单条与批量采集、分页或流式下载、字段映射、结构标准化、原始文件与</a:t>
            </a:r>
            <a:r>
              <a:rPr sz="1350" b="0" dirty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 CIF </a:t>
            </a:r>
            <a:r>
              <a:rPr sz="1350" b="0" dirty="0" err="1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存储，以及</a:t>
            </a:r>
            <a:r>
              <a:rPr sz="1350" b="0" dirty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 SQLite </a:t>
            </a:r>
            <a:r>
              <a:rPr sz="1350" b="0" dirty="0" err="1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索引</a:t>
            </a:r>
            <a:r>
              <a:rPr sz="1350" b="0" dirty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53848B-5082-4FF8-BF97-FC8F568071F9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781050"/>
          </a:xfrm>
          <a:prstGeom prst="rect">
            <a:avLst/>
          </a:prstGeom>
          <a:solidFill>
            <a:srgbClr val="F2F7F6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59BC0-CC7A-43E7-8084-B58B4B366679}"/>
              </a:ext>
            </a:extLst>
          </p:cNvPr>
          <p:cNvSpPr>
            <a:spLocks noGrp="1"/>
          </p:cNvSpPr>
          <p:nvPr/>
        </p:nvSpPr>
        <p:spPr>
          <a:xfrm>
            <a:off x="4171950" y="3581400"/>
            <a:ext cx="6286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977"/>
          </a:bodyPr>
          <a:lstStyle/>
          <a:p>
            <a:pPr algn="l">
              <a:def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59B459-257B-4ACC-A853-52EE677093DB}"/>
              </a:ext>
            </a:extLst>
          </p:cNvPr>
          <p:cNvSpPr>
            <a:spLocks noGrp="1"/>
          </p:cNvSpPr>
          <p:nvPr/>
        </p:nvSpPr>
        <p:spPr>
          <a:xfrm>
            <a:off x="4762500" y="36480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已接入数据源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2995DF-E0D2-4F86-9391-8CBF73C82F91}"/>
              </a:ext>
            </a:extLst>
          </p:cNvPr>
          <p:cNvSpPr>
            <a:spLocks noGrp="1"/>
          </p:cNvSpPr>
          <p:nvPr/>
        </p:nvSpPr>
        <p:spPr>
          <a:xfrm>
            <a:off x="6324600" y="3600450"/>
            <a:ext cx="9525" cy="466725"/>
          </a:xfrm>
          <a:prstGeom prst="rect">
            <a:avLst/>
          </a:prstGeom>
          <a:solidFill>
            <a:srgbClr val="D9E3E2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1BCE2C-4233-4982-8B33-CE1C6B88DED4}"/>
              </a:ext>
            </a:extLst>
          </p:cNvPr>
          <p:cNvSpPr>
            <a:spLocks noGrp="1"/>
          </p:cNvSpPr>
          <p:nvPr/>
        </p:nvSpPr>
        <p:spPr>
          <a:xfrm>
            <a:off x="6600825" y="3581400"/>
            <a:ext cx="8382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977"/>
          </a:bodyPr>
          <a:lstStyle/>
          <a:p>
            <a:pPr algn="l">
              <a:def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115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EF747D-88B8-4C1E-80CE-0113F56CB3D5}"/>
              </a:ext>
            </a:extLst>
          </p:cNvPr>
          <p:cNvSpPr>
            <a:spLocks noGrp="1"/>
          </p:cNvSpPr>
          <p:nvPr/>
        </p:nvSpPr>
        <p:spPr>
          <a:xfrm>
            <a:off x="7448550" y="36480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统一字段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A046A4-2F65-4B4B-8ABD-4714ABAAE03C}"/>
              </a:ext>
            </a:extLst>
          </p:cNvPr>
          <p:cNvSpPr>
            <a:spLocks noGrp="1"/>
          </p:cNvSpPr>
          <p:nvPr/>
        </p:nvSpPr>
        <p:spPr>
          <a:xfrm>
            <a:off x="8791575" y="3600450"/>
            <a:ext cx="9525" cy="466725"/>
          </a:xfrm>
          <a:prstGeom prst="rect">
            <a:avLst/>
          </a:prstGeom>
          <a:solidFill>
            <a:srgbClr val="D9E3E2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D99DA0-CA4C-4B8E-8A1E-D317741FF1DF}"/>
              </a:ext>
            </a:extLst>
          </p:cNvPr>
          <p:cNvSpPr>
            <a:spLocks noGrp="1"/>
          </p:cNvSpPr>
          <p:nvPr/>
        </p:nvSpPr>
        <p:spPr>
          <a:xfrm>
            <a:off x="9077325" y="3581400"/>
            <a:ext cx="7429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977"/>
          </a:bodyPr>
          <a:lstStyle/>
          <a:p>
            <a:pPr algn="l">
              <a:def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3.0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3919C95-DCC4-495D-A0F0-B28CE81FBF10}"/>
              </a:ext>
            </a:extLst>
          </p:cNvPr>
          <p:cNvSpPr>
            <a:spLocks noGrp="1"/>
          </p:cNvSpPr>
          <p:nvPr/>
        </p:nvSpPr>
        <p:spPr>
          <a:xfrm>
            <a:off x="9858375" y="36480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DFT schema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C3294D-CB93-438E-9E4F-945F18162678}"/>
              </a:ext>
            </a:extLst>
          </p:cNvPr>
          <p:cNvSpPr>
            <a:spLocks noGrp="1"/>
          </p:cNvSpPr>
          <p:nvPr/>
        </p:nvSpPr>
        <p:spPr>
          <a:xfrm>
            <a:off x="3905250" y="4371975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591"/>
          </a:bodyPr>
          <a:lstStyle/>
          <a:p>
            <a:pPr algn="l">
              <a:defRPr sz="120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Materials Project 覆盖 26 个材料接口；Materials Cloud 接入 MC3D 与 MC2D 共 4 个数据集，公开记录约 10.5 万条。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1E5B6A-8159-46AD-A7F6-9495CC59E0A1}"/>
              </a:ext>
            </a:extLst>
          </p:cNvPr>
          <p:cNvSpPr>
            <a:spLocks noGrp="1"/>
          </p:cNvSpPr>
          <p:nvPr/>
        </p:nvSpPr>
        <p:spPr>
          <a:xfrm>
            <a:off x="1428750" y="4905375"/>
            <a:ext cx="10096500" cy="9525"/>
          </a:xfrm>
          <a:prstGeom prst="rect">
            <a:avLst/>
          </a:prstGeom>
          <a:solidFill>
            <a:srgbClr val="D9E3E2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FC3340-6A49-4B0A-B505-CFF79D940BCB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5344D0-07BE-40AE-9A0F-ABA7991B04DE}"/>
              </a:ext>
            </a:extLst>
          </p:cNvPr>
          <p:cNvSpPr>
            <a:spLocks noGrp="1"/>
          </p:cNvSpPr>
          <p:nvPr/>
        </p:nvSpPr>
        <p:spPr>
          <a:xfrm>
            <a:off x="1428750" y="521017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039"/>
                </a:solidFill>
                <a:latin typeface="Microsoft YaHei"/>
                <a:ea typeface="Microsoft YaHei"/>
                <a:cs typeface="Microsoft YaHei"/>
              </a:rPr>
              <a:t>进一步发展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68A9D4-8345-4B8A-A4BB-9FB5C9B2EDDE}"/>
              </a:ext>
            </a:extLst>
          </p:cNvPr>
          <p:cNvSpPr>
            <a:spLocks noGrp="1"/>
          </p:cNvSpPr>
          <p:nvPr/>
        </p:nvSpPr>
        <p:spPr>
          <a:xfrm>
            <a:off x="3905250" y="518160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ABA8C0-6D3E-451B-8AB9-7CB0B51AB60E}"/>
              </a:ext>
            </a:extLst>
          </p:cNvPr>
          <p:cNvSpPr>
            <a:spLocks noGrp="1"/>
          </p:cNvSpPr>
          <p:nvPr/>
        </p:nvSpPr>
        <p:spPr>
          <a:xfrm>
            <a:off x="4667250" y="5143500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扩大代表性样本回归测试，重点校验字段映射、单位、空值和跨源一致性；完善断点恢复、访问限速与大文件处理。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C8FA22-91B3-46CB-82D3-CE300907B059}"/>
              </a:ext>
            </a:extLst>
          </p:cNvPr>
          <p:cNvSpPr>
            <a:spLocks noGrp="1"/>
          </p:cNvSpPr>
          <p:nvPr/>
        </p:nvSpPr>
        <p:spPr>
          <a:xfrm>
            <a:off x="3905250" y="5819775"/>
            <a:ext cx="8382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9E91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E1D73C-6D1C-4DA1-8C6E-AB1BE9806BFC}"/>
              </a:ext>
            </a:extLst>
          </p:cNvPr>
          <p:cNvSpPr>
            <a:spLocks noGrp="1"/>
          </p:cNvSpPr>
          <p:nvPr/>
        </p:nvSpPr>
        <p:spPr>
          <a:xfrm>
            <a:off x="4857750" y="5781675"/>
            <a:ext cx="6572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544"/>
          </a:bodyPr>
          <a:lstStyle/>
          <a:p>
            <a:pPr algn="l">
              <a:defRPr sz="1275" b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推进</a:t>
            </a:r>
            <a:r>
              <a:rPr lang="zh-CN" altLang="en-US" sz="1275" b="0" dirty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其他数据库</a:t>
            </a:r>
            <a:r>
              <a:rPr sz="1275" b="0" dirty="0" err="1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接入，并将统一框架扩展到论文、科学数据集与实验记录，逐步形成跨数据源关联检索能力</a:t>
            </a:r>
            <a:r>
              <a:rPr sz="1275" b="0" dirty="0">
                <a:solidFill>
                  <a:srgbClr val="445D6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4557F29-0AE5-4A4F-AAEF-CDBCDE27130C}"/>
              </a:ext>
            </a:extLst>
          </p:cNvPr>
          <p:cNvSpPr>
            <a:spLocks noGrp="1"/>
          </p:cNvSpPr>
          <p:nvPr/>
        </p:nvSpPr>
        <p:spPr>
          <a:xfrm>
            <a:off x="628650" y="6505575"/>
            <a:ext cx="10896600" cy="9525"/>
          </a:xfrm>
          <a:prstGeom prst="rect">
            <a:avLst/>
          </a:prstGeom>
          <a:solidFill>
            <a:srgbClr val="D9E3E2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D1BC93-FDA5-4279-BE3E-237DBB346830}"/>
              </a:ext>
            </a:extLst>
          </p:cNvPr>
          <p:cNvSpPr>
            <a:spLocks noGrp="1"/>
          </p:cNvSpPr>
          <p:nvPr/>
        </p:nvSpPr>
        <p:spPr>
          <a:xfrm>
            <a:off x="628650" y="6591300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rPr>
              <a:t>数据使用需遵守来源许可、引用要求和 API 速率限制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5F532B7-2166-4F5D-8E44-B44D0CF53FF3}"/>
              </a:ext>
            </a:extLst>
          </p:cNvPr>
          <p:cNvSpPr>
            <a:spLocks noGrp="1"/>
          </p:cNvSpPr>
          <p:nvPr/>
        </p:nvSpPr>
        <p:spPr>
          <a:xfrm>
            <a:off x="10096500" y="6591300"/>
            <a:ext cx="1428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1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68A90"/>
                </a:solidFill>
                <a:latin typeface="Microsoft YaHei"/>
                <a:ea typeface="Microsoft YaHei"/>
                <a:cs typeface="Microsoft YaHei"/>
              </a:rPr>
              <a:t>PsiCrawler</a:t>
            </a:r>
          </a:p>
        </p:txBody>
      </p:sp>
    </p:spTree>
    <p:extLst>
      <p:ext uri="{BB962C8B-B14F-4D97-AF65-F5344CB8AC3E}">
        <p14:creationId xmlns:p14="http://schemas.microsoft.com/office/powerpoint/2010/main" val="5048412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DocSecurity>0</DocSecurity>
  <PresentationFormat>宽屏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Leonard Lei</cp:lastModifiedBy>
  <cp:revision>1</cp:revision>
  <dcterms:created xsi:type="dcterms:W3CDTF">2026-09-18T13:33:16Z</dcterms:created>
  <dcterms:modified xsi:type="dcterms:W3CDTF">2026-09-18T13:35:36Z</dcterms:modified>
</cp:coreProperties>
</file>